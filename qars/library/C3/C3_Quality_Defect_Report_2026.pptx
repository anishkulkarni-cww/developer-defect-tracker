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37" r:id="rId3"/>
    <p:sldId id="364" r:id="rId4"/>
    <p:sldId id="338" r:id="rId5"/>
    <p:sldId id="340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62" r:id="rId28"/>
    <p:sldId id="386" r:id="rId29"/>
    <p:sldId id="361" r:id="rId30"/>
    <p:sldId id="387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9F1CC-588B-4945-B9B2-E0AFAB448D72}" v="9" dt="2025-08-02T16:41:45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dge, Rahul  (BOM-IPS)" userId="188ae9a2-c6e8-405f-a634-5da2714aecff" providerId="ADAL" clId="{5760830A-4724-4846-A106-80CB364D7AE1}"/>
    <pc:docChg chg="custSel addSld modSld sldOrd">
      <pc:chgData name="Shedge, Rahul  (BOM-IPS)" userId="188ae9a2-c6e8-405f-a634-5da2714aecff" providerId="ADAL" clId="{5760830A-4724-4846-A106-80CB364D7AE1}" dt="2025-06-29T06:12:05.819" v="186" actId="14100"/>
      <pc:docMkLst>
        <pc:docMk/>
      </pc:docMkLst>
      <pc:sldChg chg="addSp delSp modSp mod">
        <pc:chgData name="Shedge, Rahul  (BOM-IPS)" userId="188ae9a2-c6e8-405f-a634-5da2714aecff" providerId="ADAL" clId="{5760830A-4724-4846-A106-80CB364D7AE1}" dt="2025-06-29T06:11:49.647" v="182"/>
        <pc:sldMkLst>
          <pc:docMk/>
          <pc:sldMk cId="4019288391" sldId="328"/>
        </pc:sldMkLst>
        <pc:spChg chg="mod">
          <ac:chgData name="Shedge, Rahul  (BOM-IPS)" userId="188ae9a2-c6e8-405f-a634-5da2714aecff" providerId="ADAL" clId="{5760830A-4724-4846-A106-80CB364D7AE1}" dt="2025-06-29T06:11:34.371" v="179" actId="1076"/>
          <ac:spMkLst>
            <pc:docMk/>
            <pc:sldMk cId="4019288391" sldId="328"/>
            <ac:spMk id="2" creationId="{6B34CE78-2728-4CEE-EF69-3EDE0CE80EFB}"/>
          </ac:spMkLst>
        </pc:spChg>
      </pc:sldChg>
      <pc:sldChg chg="modSp add mod ord">
        <pc:chgData name="Shedge, Rahul  (BOM-IPS)" userId="188ae9a2-c6e8-405f-a634-5da2714aecff" providerId="ADAL" clId="{5760830A-4724-4846-A106-80CB364D7AE1}" dt="2025-06-23T04:59:23.799" v="25"/>
        <pc:sldMkLst>
          <pc:docMk/>
          <pc:sldMk cId="849025272" sldId="329"/>
        </pc:sldMkLst>
      </pc:sldChg>
      <pc:sldChg chg="addSp delSp modSp add mod ord">
        <pc:chgData name="Shedge, Rahul  (BOM-IPS)" userId="188ae9a2-c6e8-405f-a634-5da2714aecff" providerId="ADAL" clId="{5760830A-4724-4846-A106-80CB364D7AE1}" dt="2025-06-23T05:00:39.459" v="55"/>
        <pc:sldMkLst>
          <pc:docMk/>
          <pc:sldMk cId="2510123657" sldId="330"/>
        </pc:sldMkLst>
      </pc:sldChg>
      <pc:sldChg chg="addSp delSp modSp add mod ord">
        <pc:chgData name="Shedge, Rahul  (BOM-IPS)" userId="188ae9a2-c6e8-405f-a634-5da2714aecff" providerId="ADAL" clId="{5760830A-4724-4846-A106-80CB364D7AE1}" dt="2025-06-23T05:01:34.300" v="70"/>
        <pc:sldMkLst>
          <pc:docMk/>
          <pc:sldMk cId="789351891" sldId="331"/>
        </pc:sldMkLst>
      </pc:sldChg>
      <pc:sldChg chg="modSp add mod ord">
        <pc:chgData name="Shedge, Rahul  (BOM-IPS)" userId="188ae9a2-c6e8-405f-a634-5da2714aecff" providerId="ADAL" clId="{5760830A-4724-4846-A106-80CB364D7AE1}" dt="2025-06-23T05:03:04.009" v="104"/>
        <pc:sldMkLst>
          <pc:docMk/>
          <pc:sldMk cId="716259589" sldId="332"/>
        </pc:sldMkLst>
      </pc:sldChg>
      <pc:sldChg chg="modSp add mod ord">
        <pc:chgData name="Shedge, Rahul  (BOM-IPS)" userId="188ae9a2-c6e8-405f-a634-5da2714aecff" providerId="ADAL" clId="{5760830A-4724-4846-A106-80CB364D7AE1}" dt="2025-06-29T06:09:36.860" v="173"/>
        <pc:sldMkLst>
          <pc:docMk/>
          <pc:sldMk cId="3620380410" sldId="333"/>
        </pc:sldMkLst>
      </pc:sldChg>
      <pc:sldChg chg="addSp delSp modSp add mod ord">
        <pc:chgData name="Shedge, Rahul  (BOM-IPS)" userId="188ae9a2-c6e8-405f-a634-5da2714aecff" providerId="ADAL" clId="{5760830A-4724-4846-A106-80CB364D7AE1}" dt="2025-06-29T06:12:05.819" v="186" actId="14100"/>
        <pc:sldMkLst>
          <pc:docMk/>
          <pc:sldMk cId="2454416548" sldId="334"/>
        </pc:sldMkLst>
      </pc:sldChg>
    </pc:docChg>
  </pc:docChgLst>
  <pc:docChgLst>
    <pc:chgData name="Shedge, Rahul  (BOM-IPS)" userId="188ae9a2-c6e8-405f-a634-5da2714aecff" providerId="ADAL" clId="{6F9EBB92-A3EE-426A-923B-72BCB1693C67}"/>
    <pc:docChg chg="custSel addSld delSld modSld sldOrd">
      <pc:chgData name="Shedge, Rahul  (BOM-IPS)" userId="188ae9a2-c6e8-405f-a634-5da2714aecff" providerId="ADAL" clId="{6F9EBB92-A3EE-426A-923B-72BCB1693C67}" dt="2025-06-30T04:21:44.794" v="110"/>
      <pc:docMkLst>
        <pc:docMk/>
      </pc:docMkLst>
      <pc:sldChg chg="modSp mod">
        <pc:chgData name="Shedge, Rahul  (BOM-IPS)" userId="188ae9a2-c6e8-405f-a634-5da2714aecff" providerId="ADAL" clId="{6F9EBB92-A3EE-426A-923B-72BCB1693C67}" dt="2025-06-30T03:51:48.364" v="0" actId="20577"/>
        <pc:sldMkLst>
          <pc:docMk/>
          <pc:sldMk cId="1764285405" sldId="256"/>
        </pc:sldMkLst>
        <pc:spChg chg="mod">
          <ac:chgData name="Shedge, Rahul  (BOM-IPS)" userId="188ae9a2-c6e8-405f-a634-5da2714aecff" providerId="ADAL" clId="{6F9EBB92-A3EE-426A-923B-72BCB1693C67}" dt="2025-06-30T03:51:48.364" v="0" actId="20577"/>
          <ac:spMkLst>
            <pc:docMk/>
            <pc:sldMk cId="1764285405" sldId="256"/>
            <ac:spMk id="2" creationId="{5014BBCB-C6BD-4EEE-040F-51398A251948}"/>
          </ac:spMkLst>
        </pc:spChg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2075927095" sldId="324"/>
        </pc:sldMkLst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2394861208" sldId="325"/>
        </pc:sldMkLst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118957567" sldId="326"/>
        </pc:sldMkLst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1915102241" sldId="327"/>
        </pc:sldMkLst>
      </pc:sldChg>
      <pc:sldChg chg="addSp delSp modSp mod">
        <pc:chgData name="Shedge, Rahul  (BOM-IPS)" userId="188ae9a2-c6e8-405f-a634-5da2714aecff" providerId="ADAL" clId="{6F9EBB92-A3EE-426A-923B-72BCB1693C67}" dt="2025-06-30T04:21:44.794" v="110"/>
        <pc:sldMkLst>
          <pc:docMk/>
          <pc:sldMk cId="4019288391" sldId="328"/>
        </pc:sldMkLst>
      </pc:sldChg>
      <pc:sldChg chg="modSp mod">
        <pc:chgData name="Shedge, Rahul  (BOM-IPS)" userId="188ae9a2-c6e8-405f-a634-5da2714aecff" providerId="ADAL" clId="{6F9EBB92-A3EE-426A-923B-72BCB1693C67}" dt="2025-06-30T04:13:19.062" v="21" actId="20577"/>
        <pc:sldMkLst>
          <pc:docMk/>
          <pc:sldMk cId="3620380410" sldId="333"/>
        </pc:sldMkLst>
      </pc:sldChg>
      <pc:sldChg chg="addSp delSp modSp mod">
        <pc:chgData name="Shedge, Rahul  (BOM-IPS)" userId="188ae9a2-c6e8-405f-a634-5da2714aecff" providerId="ADAL" clId="{6F9EBB92-A3EE-426A-923B-72BCB1693C67}" dt="2025-06-30T04:14:07.668" v="38" actId="113"/>
        <pc:sldMkLst>
          <pc:docMk/>
          <pc:sldMk cId="2454416548" sldId="334"/>
        </pc:sldMkLst>
      </pc:sldChg>
      <pc:sldChg chg="modSp add mod ord">
        <pc:chgData name="Shedge, Rahul  (BOM-IPS)" userId="188ae9a2-c6e8-405f-a634-5da2714aecff" providerId="ADAL" clId="{6F9EBB92-A3EE-426A-923B-72BCB1693C67}" dt="2025-06-30T04:18:48.947" v="102" actId="20577"/>
        <pc:sldMkLst>
          <pc:docMk/>
          <pc:sldMk cId="1480152219" sldId="335"/>
        </pc:sldMkLst>
      </pc:sldChg>
      <pc:sldChg chg="addSp delSp modSp add mod ord">
        <pc:chgData name="Shedge, Rahul  (BOM-IPS)" userId="188ae9a2-c6e8-405f-a634-5da2714aecff" providerId="ADAL" clId="{6F9EBB92-A3EE-426A-923B-72BCB1693C67}" dt="2025-06-30T04:17:07.339" v="60"/>
        <pc:sldMkLst>
          <pc:docMk/>
          <pc:sldMk cId="93903190" sldId="336"/>
        </pc:sldMkLst>
      </pc:sldChg>
    </pc:docChg>
  </pc:docChgLst>
  <pc:docChgLst>
    <pc:chgData name="Shedge, Rahul  (BOM-IPS)" userId="188ae9a2-c6e8-405f-a634-5da2714aecff" providerId="ADAL" clId="{2249F1CC-588B-4945-B9B2-E0AFAB448D72}"/>
    <pc:docChg chg="undo custSel addSld delSld modSld sldOrd">
      <pc:chgData name="Shedge, Rahul  (BOM-IPS)" userId="188ae9a2-c6e8-405f-a634-5da2714aecff" providerId="ADAL" clId="{2249F1CC-588B-4945-B9B2-E0AFAB448D72}" dt="2025-08-11T14:54:51.021" v="113" actId="47"/>
      <pc:docMkLst>
        <pc:docMk/>
      </pc:docMkLst>
      <pc:sldChg chg="addSp delSp modSp mod">
        <pc:chgData name="Shedge, Rahul  (BOM-IPS)" userId="188ae9a2-c6e8-405f-a634-5da2714aecff" providerId="ADAL" clId="{2249F1CC-588B-4945-B9B2-E0AFAB448D72}" dt="2025-08-02T16:41:45.518" v="110"/>
        <pc:sldMkLst>
          <pc:docMk/>
          <pc:sldMk cId="4019288391" sldId="328"/>
        </pc:sldMkLst>
        <pc:graphicFrameChg chg="add mod">
          <ac:chgData name="Shedge, Rahul  (BOM-IPS)" userId="188ae9a2-c6e8-405f-a634-5da2714aecff" providerId="ADAL" clId="{2249F1CC-588B-4945-B9B2-E0AFAB448D72}" dt="2025-08-02T16:41:45.518" v="110"/>
          <ac:graphicFrameMkLst>
            <pc:docMk/>
            <pc:sldMk cId="4019288391" sldId="328"/>
            <ac:graphicFrameMk id="4" creationId="{7DA05E8D-4FD2-E3DC-2EBE-435F692C5B0F}"/>
          </ac:graphicFrameMkLst>
        </pc:graphicFrameChg>
      </pc:sldChg>
      <pc:sldChg chg="del">
        <pc:chgData name="Shedge, Rahul  (BOM-IPS)" userId="188ae9a2-c6e8-405f-a634-5da2714aecff" providerId="ADAL" clId="{2249F1CC-588B-4945-B9B2-E0AFAB448D72}" dt="2025-08-11T14:54:47.231" v="112" actId="47"/>
        <pc:sldMkLst>
          <pc:docMk/>
          <pc:sldMk cId="849025272" sldId="329"/>
        </pc:sldMkLst>
      </pc:sldChg>
      <pc:sldChg chg="del">
        <pc:chgData name="Shedge, Rahul  (BOM-IPS)" userId="188ae9a2-c6e8-405f-a634-5da2714aecff" providerId="ADAL" clId="{2249F1CC-588B-4945-B9B2-E0AFAB448D72}" dt="2025-08-11T14:54:47.231" v="112" actId="47"/>
        <pc:sldMkLst>
          <pc:docMk/>
          <pc:sldMk cId="2510123657" sldId="330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789351891" sldId="331"/>
        </pc:sldMkLst>
      </pc:sldChg>
      <pc:sldChg chg="del">
        <pc:chgData name="Shedge, Rahul  (BOM-IPS)" userId="188ae9a2-c6e8-405f-a634-5da2714aecff" providerId="ADAL" clId="{2249F1CC-588B-4945-B9B2-E0AFAB448D72}" dt="2025-08-11T14:54:47.231" v="112" actId="47"/>
        <pc:sldMkLst>
          <pc:docMk/>
          <pc:sldMk cId="716259589" sldId="332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3620380410" sldId="333"/>
        </pc:sldMkLst>
      </pc:sldChg>
      <pc:sldChg chg="del">
        <pc:chgData name="Shedge, Rahul  (BOM-IPS)" userId="188ae9a2-c6e8-405f-a634-5da2714aecff" providerId="ADAL" clId="{2249F1CC-588B-4945-B9B2-E0AFAB448D72}" dt="2025-08-11T14:54:42.918" v="111" actId="47"/>
        <pc:sldMkLst>
          <pc:docMk/>
          <pc:sldMk cId="2454416548" sldId="334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1480152219" sldId="335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93903190" sldId="336"/>
        </pc:sldMkLst>
      </pc:sldChg>
      <pc:sldChg chg="modSp add mod ord">
        <pc:chgData name="Shedge, Rahul  (BOM-IPS)" userId="188ae9a2-c6e8-405f-a634-5da2714aecff" providerId="ADAL" clId="{2249F1CC-588B-4945-B9B2-E0AFAB448D72}" dt="2025-08-02T16:39:23.405" v="101"/>
        <pc:sldMkLst>
          <pc:docMk/>
          <pc:sldMk cId="1364865786" sldId="337"/>
        </pc:sldMkLst>
        <pc:spChg chg="mod">
          <ac:chgData name="Shedge, Rahul  (BOM-IPS)" userId="188ae9a2-c6e8-405f-a634-5da2714aecff" providerId="ADAL" clId="{2249F1CC-588B-4945-B9B2-E0AFAB448D72}" dt="2025-08-02T16:22:53.108" v="4" actId="20577"/>
          <ac:spMkLst>
            <pc:docMk/>
            <pc:sldMk cId="1364865786" sldId="337"/>
            <ac:spMk id="2" creationId="{0293AC2C-3D24-D14A-60B1-E208AB9D865A}"/>
          </ac:spMkLst>
        </pc:spChg>
        <pc:graphicFrameChg chg="mod modGraphic">
          <ac:chgData name="Shedge, Rahul  (BOM-IPS)" userId="188ae9a2-c6e8-405f-a634-5da2714aecff" providerId="ADAL" clId="{2249F1CC-588B-4945-B9B2-E0AFAB448D72}" dt="2025-08-02T16:29:55.866" v="27"/>
          <ac:graphicFrameMkLst>
            <pc:docMk/>
            <pc:sldMk cId="1364865786" sldId="337"/>
            <ac:graphicFrameMk id="4" creationId="{BACC3F83-DA12-12D3-98CF-43C74AC29529}"/>
          </ac:graphicFrameMkLst>
        </pc:graphicFrameChg>
      </pc:sldChg>
      <pc:sldChg chg="modSp add mod ord">
        <pc:chgData name="Shedge, Rahul  (BOM-IPS)" userId="188ae9a2-c6e8-405f-a634-5da2714aecff" providerId="ADAL" clId="{2249F1CC-588B-4945-B9B2-E0AFAB448D72}" dt="2025-08-02T16:39:11.574" v="97"/>
        <pc:sldMkLst>
          <pc:docMk/>
          <pc:sldMk cId="3409532563" sldId="338"/>
        </pc:sldMkLst>
        <pc:spChg chg="mod">
          <ac:chgData name="Shedge, Rahul  (BOM-IPS)" userId="188ae9a2-c6e8-405f-a634-5da2714aecff" providerId="ADAL" clId="{2249F1CC-588B-4945-B9B2-E0AFAB448D72}" dt="2025-08-02T16:30:18.380" v="32" actId="20577"/>
          <ac:spMkLst>
            <pc:docMk/>
            <pc:sldMk cId="3409532563" sldId="338"/>
            <ac:spMk id="2" creationId="{DB800090-FBA7-EB2E-9063-908CE4B70DCD}"/>
          </ac:spMkLst>
        </pc:spChg>
        <pc:graphicFrameChg chg="modGraphic">
          <ac:chgData name="Shedge, Rahul  (BOM-IPS)" userId="188ae9a2-c6e8-405f-a634-5da2714aecff" providerId="ADAL" clId="{2249F1CC-588B-4945-B9B2-E0AFAB448D72}" dt="2025-08-02T16:31:52.799" v="62" actId="20577"/>
          <ac:graphicFrameMkLst>
            <pc:docMk/>
            <pc:sldMk cId="3409532563" sldId="338"/>
            <ac:graphicFrameMk id="3" creationId="{AF4AF5A2-F117-B4FC-11E9-D14BD2A39520}"/>
          </ac:graphicFrameMkLst>
        </pc:graphicFrameChg>
      </pc:sldChg>
      <pc:sldChg chg="addSp delSp modSp add mod ord">
        <pc:chgData name="Shedge, Rahul  (BOM-IPS)" userId="188ae9a2-c6e8-405f-a634-5da2714aecff" providerId="ADAL" clId="{2249F1CC-588B-4945-B9B2-E0AFAB448D72}" dt="2025-08-02T16:39:18.030" v="99"/>
        <pc:sldMkLst>
          <pc:docMk/>
          <pc:sldMk cId="3199802484" sldId="339"/>
        </pc:sldMkLst>
        <pc:spChg chg="mod">
          <ac:chgData name="Shedge, Rahul  (BOM-IPS)" userId="188ae9a2-c6e8-405f-a634-5da2714aecff" providerId="ADAL" clId="{2249F1CC-588B-4945-B9B2-E0AFAB448D72}" dt="2025-08-02T16:36:12.534" v="67" actId="20577"/>
          <ac:spMkLst>
            <pc:docMk/>
            <pc:sldMk cId="3199802484" sldId="339"/>
            <ac:spMk id="2" creationId="{82A776A2-0F7B-B07F-87A2-5E7FC362DCEC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54" creationId="{BACC6370-2D7E-4714-9D71-7542949D7D5D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56" creationId="{F68B3F68-107C-434F-AA38-110D5EA91B85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58" creationId="{AAD0DBB9-1A4B-4391-81D4-CB19F9AB918A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60" creationId="{063BBA22-50EA-4C4D-BE05-F1CE4E63AA56}"/>
          </ac:spMkLst>
        </pc:spChg>
        <pc:graphicFrameChg chg="add mod modGraphic">
          <ac:chgData name="Shedge, Rahul  (BOM-IPS)" userId="188ae9a2-c6e8-405f-a634-5da2714aecff" providerId="ADAL" clId="{2249F1CC-588B-4945-B9B2-E0AFAB448D72}" dt="2025-08-02T16:36:48.004" v="83" actId="113"/>
          <ac:graphicFrameMkLst>
            <pc:docMk/>
            <pc:sldMk cId="3199802484" sldId="339"/>
            <ac:graphicFrameMk id="6" creationId="{7F67ACC5-C337-E027-BD91-E7475533EF5E}"/>
          </ac:graphicFrameMkLst>
        </pc:graphicFrameChg>
      </pc:sldChg>
      <pc:sldChg chg="addSp delSp modSp add mod">
        <pc:chgData name="Shedge, Rahul  (BOM-IPS)" userId="188ae9a2-c6e8-405f-a634-5da2714aecff" providerId="ADAL" clId="{2249F1CC-588B-4945-B9B2-E0AFAB448D72}" dt="2025-08-02T16:39:03.573" v="95"/>
        <pc:sldMkLst>
          <pc:docMk/>
          <pc:sldMk cId="1890400995" sldId="340"/>
        </pc:sldMkLst>
        <pc:spChg chg="mod">
          <ac:chgData name="Shedge, Rahul  (BOM-IPS)" userId="188ae9a2-c6e8-405f-a634-5da2714aecff" providerId="ADAL" clId="{2249F1CC-588B-4945-B9B2-E0AFAB448D72}" dt="2025-08-02T16:37:02.576" v="88" actId="20577"/>
          <ac:spMkLst>
            <pc:docMk/>
            <pc:sldMk cId="1890400995" sldId="340"/>
            <ac:spMk id="2" creationId="{C8C5E0F2-431A-2335-4894-D25149F47A67}"/>
          </ac:spMkLst>
        </pc:spChg>
        <pc:graphicFrameChg chg="add mod">
          <ac:chgData name="Shedge, Rahul  (BOM-IPS)" userId="188ae9a2-c6e8-405f-a634-5da2714aecff" providerId="ADAL" clId="{2249F1CC-588B-4945-B9B2-E0AFAB448D72}" dt="2025-08-02T16:39:03.573" v="95"/>
          <ac:graphicFrameMkLst>
            <pc:docMk/>
            <pc:sldMk cId="1890400995" sldId="340"/>
            <ac:graphicFrameMk id="4" creationId="{218CFEBC-6714-AB69-B3B5-61B63F0FB8D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Copy%20of%20Jan%202026%20C3%20QA%20Audit%20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Feb%202026%20C3%20QA%20Audit%20Report%20(4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Copy%20of%20Mar%202026%20C3%20QA%20Audit%20Repor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Apr%202026%20C3%20QA%20Audit%20Repor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May%202026%20C3%20QA%20Audit...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Feb%202026%20India%20QA%20Audit...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Feb%202026%20India%20QA%20Audit...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Error Count 3</a:t>
            </a:r>
            <a:endParaRPr lang="en-US"/>
          </a:p>
        </c:rich>
      </c:tx>
      <c:layout>
        <c:manualLayout>
          <c:xMode val="edge"/>
          <c:yMode val="edge"/>
          <c:x val="0.77155554695246498"/>
          <c:y val="0.105456027969652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582427855771991E-2"/>
          <c:y val="7.4603732672037987E-2"/>
          <c:w val="0.96041757214422796"/>
          <c:h val="0.83024645397863106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Comments!$B$22</c:f>
              <c:strCache>
                <c:ptCount val="1"/>
                <c:pt idx="0">
                  <c:v>Content Related</c:v>
                </c:pt>
              </c:strCache>
            </c:strRef>
          </c:cat>
          <c:val>
            <c:numRef>
              <c:f>Comments!$C$22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7-4CB7-AB29-9E21487494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94011216"/>
        <c:axId val="94004016"/>
      </c:barChart>
      <c:catAx>
        <c:axId val="9401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04016"/>
        <c:crosses val="autoZero"/>
        <c:auto val="1"/>
        <c:lblAlgn val="ctr"/>
        <c:lblOffset val="100"/>
        <c:noMultiLvlLbl val="0"/>
      </c:catAx>
      <c:valAx>
        <c:axId val="9400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11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Error Count 8</a:t>
            </a:r>
            <a:endParaRPr lang="en-US"/>
          </a:p>
        </c:rich>
      </c:tx>
      <c:layout>
        <c:manualLayout>
          <c:xMode val="edge"/>
          <c:yMode val="edge"/>
          <c:x val="0.76521936031515192"/>
          <c:y val="4.42704922124707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Comments!$B$18:$B$20</c:f>
              <c:strCache>
                <c:ptCount val="3"/>
                <c:pt idx="0">
                  <c:v>Content Related</c:v>
                </c:pt>
                <c:pt idx="1">
                  <c:v>Redirect Links Related</c:v>
                </c:pt>
                <c:pt idx="2">
                  <c:v>Design layout Related</c:v>
                </c:pt>
              </c:strCache>
            </c:strRef>
          </c:cat>
          <c:val>
            <c:numRef>
              <c:f>Comments!$C$18:$C$20</c:f>
              <c:numCache>
                <c:formatCode>General</c:formatCode>
                <c:ptCount val="3"/>
                <c:pt idx="0">
                  <c:v>5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6A-4ECB-B49D-7889DCBA7AF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94715535"/>
        <c:axId val="1994719855"/>
      </c:barChart>
      <c:catAx>
        <c:axId val="1994715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4719855"/>
        <c:crosses val="autoZero"/>
        <c:auto val="1"/>
        <c:lblAlgn val="ctr"/>
        <c:lblOffset val="100"/>
        <c:noMultiLvlLbl val="0"/>
      </c:catAx>
      <c:valAx>
        <c:axId val="1994719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4715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 Error Count 10</a:t>
            </a:r>
          </a:p>
        </c:rich>
      </c:tx>
      <c:layout>
        <c:manualLayout>
          <c:xMode val="edge"/>
          <c:yMode val="edge"/>
          <c:x val="0.76538816122687392"/>
          <c:y val="4.42704827678310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Comments!$B$21:$B$23</c:f>
              <c:strCache>
                <c:ptCount val="3"/>
                <c:pt idx="0">
                  <c:v>Redirect Links Related</c:v>
                </c:pt>
                <c:pt idx="1">
                  <c:v>Content Related</c:v>
                </c:pt>
                <c:pt idx="2">
                  <c:v>Design layout Related</c:v>
                </c:pt>
              </c:strCache>
            </c:strRef>
          </c:cat>
          <c:val>
            <c:numRef>
              <c:f>Comments!$C$21:$C$23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A6-4161-A268-0159BA8A8E2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08164208"/>
        <c:axId val="1908154608"/>
      </c:barChart>
      <c:catAx>
        <c:axId val="190816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154608"/>
        <c:crosses val="autoZero"/>
        <c:auto val="1"/>
        <c:lblAlgn val="ctr"/>
        <c:lblOffset val="100"/>
        <c:noMultiLvlLbl val="0"/>
      </c:catAx>
      <c:valAx>
        <c:axId val="190815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164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 Error Count 4</a:t>
            </a:r>
          </a:p>
        </c:rich>
      </c:tx>
      <c:layout>
        <c:manualLayout>
          <c:xMode val="edge"/>
          <c:yMode val="edge"/>
          <c:x val="0.77849999999999997"/>
          <c:y val="4.5062797983519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Comments!$B$18:$B$19</c:f>
              <c:strCache>
                <c:ptCount val="2"/>
                <c:pt idx="0">
                  <c:v>Design layout Related</c:v>
                </c:pt>
                <c:pt idx="1">
                  <c:v>Content Related</c:v>
                </c:pt>
              </c:strCache>
            </c:strRef>
          </c:cat>
          <c:val>
            <c:numRef>
              <c:f>Comments!$C$18:$C$19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C-446E-BF1D-7757EE1358F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759064463"/>
        <c:axId val="1759069263"/>
      </c:barChart>
      <c:catAx>
        <c:axId val="1759064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9069263"/>
        <c:crosses val="autoZero"/>
        <c:auto val="1"/>
        <c:lblAlgn val="ctr"/>
        <c:lblOffset val="100"/>
        <c:noMultiLvlLbl val="0"/>
      </c:catAx>
      <c:valAx>
        <c:axId val="1759069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9064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 Error Count 9</a:t>
            </a:r>
          </a:p>
        </c:rich>
      </c:tx>
      <c:layout>
        <c:manualLayout>
          <c:xMode val="edge"/>
          <c:yMode val="edge"/>
          <c:x val="0.71426388498491755"/>
          <c:y val="4.5059838497817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Comments!$B$20:$B$21</c:f>
              <c:strCache>
                <c:ptCount val="2"/>
                <c:pt idx="0">
                  <c:v>Design layout Related</c:v>
                </c:pt>
                <c:pt idx="1">
                  <c:v>Content Related</c:v>
                </c:pt>
              </c:strCache>
            </c:strRef>
          </c:cat>
          <c:val>
            <c:numRef>
              <c:f>Comments!$C$20:$C$21</c:f>
              <c:numCache>
                <c:formatCode>General</c:formatCode>
                <c:ptCount val="2"/>
                <c:pt idx="0">
                  <c:v>1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17-4293-A774-9BB1B28702C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37260367"/>
        <c:axId val="737261327"/>
      </c:barChart>
      <c:catAx>
        <c:axId val="737260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7261327"/>
        <c:crosses val="autoZero"/>
        <c:auto val="1"/>
        <c:lblAlgn val="ctr"/>
        <c:lblOffset val="100"/>
        <c:noMultiLvlLbl val="0"/>
      </c:catAx>
      <c:valAx>
        <c:axId val="737261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7260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 Error Count 9</a:t>
            </a:r>
          </a:p>
        </c:rich>
      </c:tx>
      <c:layout>
        <c:manualLayout>
          <c:xMode val="edge"/>
          <c:yMode val="edge"/>
          <c:x val="0.81218054362036218"/>
          <c:y val="4.47178554612856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Sheet11!$R$2:$R$3</c:f>
              <c:strCache>
                <c:ptCount val="2"/>
                <c:pt idx="0">
                  <c:v>Content Related</c:v>
                </c:pt>
                <c:pt idx="1">
                  <c:v>Redirected links</c:v>
                </c:pt>
              </c:strCache>
            </c:strRef>
          </c:cat>
          <c:val>
            <c:numRef>
              <c:f>Sheet11!$S$2:$S$3</c:f>
              <c:numCache>
                <c:formatCode>General</c:formatCode>
                <c:ptCount val="2"/>
                <c:pt idx="0">
                  <c:v>8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A8-4619-BDEA-6D130A723B1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36861520"/>
        <c:axId val="1936865360"/>
      </c:barChart>
      <c:catAx>
        <c:axId val="193686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865360"/>
        <c:crosses val="autoZero"/>
        <c:auto val="1"/>
        <c:lblAlgn val="ctr"/>
        <c:lblOffset val="100"/>
        <c:noMultiLvlLbl val="0"/>
      </c:catAx>
      <c:valAx>
        <c:axId val="1936865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86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Sheet11!$R$6:$R$11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Sheet11!$S$6:$S$11</c:f>
              <c:numCache>
                <c:formatCode>0.00%</c:formatCode>
                <c:ptCount val="6"/>
                <c:pt idx="0">
                  <c:v>0.97629999999999995</c:v>
                </c:pt>
                <c:pt idx="1">
                  <c:v>0.86760000000000004</c:v>
                </c:pt>
                <c:pt idx="2">
                  <c:v>0.92249999999999999</c:v>
                </c:pt>
                <c:pt idx="3">
                  <c:v>0.95740000000000003</c:v>
                </c:pt>
                <c:pt idx="4">
                  <c:v>0.90820000000000001</c:v>
                </c:pt>
                <c:pt idx="5">
                  <c:v>0.92969999999999997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E6-401C-B4EB-BB7D270E860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40326496"/>
        <c:axId val="2040322176"/>
      </c:barChart>
      <c:catAx>
        <c:axId val="204032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0322176"/>
        <c:crosses val="autoZero"/>
        <c:auto val="1"/>
        <c:lblAlgn val="ctr"/>
        <c:lblOffset val="100"/>
        <c:noMultiLvlLbl val="0"/>
      </c:catAx>
      <c:valAx>
        <c:axId val="204032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032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2B098-67E7-42BE-BE89-0B397FF4CB8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70524-231F-471F-9A62-A92EAECCA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1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2E1E-8EA7-01E5-ADA0-330AB6C4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C1EBD-5AC4-9672-6B50-15DD283D5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FE941-7F6E-276C-C369-A2A950D22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616DB-8F46-B947-AC45-23CAEE637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548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F164-C764-71EA-0C0A-B499DD65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F0417-5E12-1790-0A9C-7F0F3A1E1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2DD65-7708-1EF2-1C3A-51F67163D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1CAD6-6F6A-C451-734C-7D4AFFF38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004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54C0-130A-9CEA-5FE2-FDF80A91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7A481-E73F-775F-B1A4-880D950E5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34490-B3B9-ED1A-5EF2-0328CC629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EA18C-15C0-8B61-4CA9-EBFDAE565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907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E00C-898D-090F-0A20-54DE2224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F0314-EDD2-A13C-C7CF-1ED023D31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1AF84-38AB-E5AA-C531-B564DCACB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8886B-52DD-E5C6-8EEA-AB7AAE722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62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FD69-463F-5D95-0184-67183499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0A3AB-1623-62A1-E948-F83915A56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CD87D-D406-80B9-3ACD-805099F8E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33F9D-BE45-5BA2-27D7-5272DF921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811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3AA0-2A3C-CABD-9F9F-F33E5EEF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770AF-A359-738B-7AD8-19191290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F9B35-B0A6-EE17-99FE-FBACE7D59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D64F5-3C1C-C6A5-67DA-8FB589EA8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373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73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B782-9161-FEEF-06C1-4CFF857EE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447E2-6EF8-EBBC-2111-4581C8EDC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8742-9F32-7A4C-08BB-9F88B543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8ACDD-C7AE-E182-7787-F3D38991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0C56-E347-D90F-A342-4BC99C5F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69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07CD-98E5-81E2-ED5A-1F27AD48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0BD5-2FBF-E143-36E1-EF8EC82B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A2ED3-0C29-E428-705E-13AE168E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B0702-2307-6E31-6D0E-5C8B425E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CF23-A7DC-1225-FA8E-384325D0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42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ECD9-606C-111C-E140-F8565321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985EE-5587-BE2D-99D8-E2019829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F203-F994-740E-72C7-2AB61414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156DD-866B-76CE-97FF-6B069170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ECB7-2743-788A-C6CE-608FAA99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1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3E9F-ED15-239D-FEF2-BA2B3AEA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CB823-B114-4184-BC2C-7B1A3B854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2AA58-B902-52CC-2137-E0A722C4D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A3151-FBC5-41CE-BE47-8BC9EEF0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40ED0-0F5C-EA34-6A52-12DF911A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7E5F3-1730-36E2-2ABE-4BCF13F6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96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204B-F795-BBE8-0DC7-A72F729D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4AB4B-5D80-94A4-57A9-D87B3A63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EBC31-440B-CFE2-30C9-632552DC3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87885-8AF0-DC4C-4231-A5E434819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5960F2-A508-9736-714A-399415186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32C2F-DFA0-3B26-F326-A2345852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CA4AE-72DB-1E4C-943C-E75C1D7B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39AFB-E135-3C96-A05F-52C481A6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5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20AD-D7FD-9F23-4682-68022160D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31369-2BA4-519C-4CEF-132C4B85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34DD6-B55C-BC89-687A-5D1B4F93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FEB91-EC53-E41F-758A-5DB0716B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3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95634-5DC9-4FAB-B5F8-7FC460D9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A7ED4-5D44-FEF2-3F1F-1E18FE0F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E5702-69CE-7C44-8C90-1D365257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37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3A9E-0EB8-20D7-19BF-89C9AAF8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B48E-957F-B946-7A1D-317F7F2D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E7A44-3C31-4B18-764E-4A1C6C312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AD20E-21EE-3CE8-F1B4-6C9C1FA7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70D1-283A-53D8-6D32-309276FC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55B6-DC55-7D40-AE13-08578DBA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40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5A82-40C4-5B47-BC6B-870EEE75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E62DC-A0B9-D1FB-8877-3F162B37D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9F895-8FCA-6697-9B33-07F8930E8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D219A-BF50-340A-BE48-F53B6DD1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823D-49FD-A8AC-CDCC-379E8F05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10C39-617E-7EB9-4BDF-AA275EEC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98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C23B-D682-8F86-4A8E-07862957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14B9E-91F2-F4E0-0233-A5936A5CD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CBC94-67E3-952F-B297-0F1F3959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07A93-4562-DEAE-AC5E-75A3E6D0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8EC3-A855-FF0B-2A00-A77AC4AD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5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1AD27-F29D-84A7-06C6-B6D155F97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56500-A116-7A03-8126-0B7266BAD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4BA02-8BE7-F8C0-E96B-15DC200C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D494-EBE5-0A83-3EF9-E9388AF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12856-9B1B-3109-3505-F77937E3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7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B5158-6069-BF60-DF2B-35B89A98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30BD9-E484-44B4-3DC8-59CD1BC9B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807BE-9FC0-85A1-C2BB-1034ECB1B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770E8-7171-B7FC-47DA-6F387A345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E5F1-0F89-D913-0994-2D0486650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4BBCB-C6BD-4EEE-040F-51398A251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488" y="929452"/>
            <a:ext cx="11594592" cy="2526738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rgbClr val="FFFFFF"/>
                </a:solidFill>
              </a:rPr>
              <a:t>Quality Report C3 Jan - June 2026</a:t>
            </a:r>
          </a:p>
        </p:txBody>
      </p:sp>
      <p:sp>
        <p:nvSpPr>
          <p:cNvPr id="91" name="sketch line">
            <a:extLst>
              <a:ext uri="{FF2B5EF4-FFF2-40B4-BE49-F238E27FC236}">
                <a16:creationId xmlns:a16="http://schemas.microsoft.com/office/drawing/2014/main" id="{6D080EC2-42B5-4E04-BBF7-F0BC5CB7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665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8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701A9-F0E5-3B49-0706-39274AA5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2F183F-085E-9D97-2FDA-A97BF5D54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3AC2C-3D24-D14A-60B1-E208AB9D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C3 Jan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6D17133B-038F-40C2-017C-68C83775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EF4FD044-AC87-9C1D-EABE-D4E56C01F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B4710AA0-56E3-C770-8794-226F2404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C3F83-DA12-12D3-98CF-43C74AC295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811186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97.63%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86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5E7DC-BF5C-0500-F4E9-CEFC9057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6" name="Rectangle 38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E9D4E-08D7-0EF0-2416-2E919356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C3 Jan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F6EAB5E-6A27-FE41-DA8C-ECEFA02EDB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304328"/>
              </p:ext>
            </p:extLst>
          </p:nvPr>
        </p:nvGraphicFramePr>
        <p:xfrm>
          <a:off x="0" y="1499616"/>
          <a:ext cx="12192000" cy="5358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253">
                  <a:extLst>
                    <a:ext uri="{9D8B030D-6E8A-4147-A177-3AD203B41FA5}">
                      <a16:colId xmlns:a16="http://schemas.microsoft.com/office/drawing/2014/main" val="2116912089"/>
                    </a:ext>
                  </a:extLst>
                </a:gridCol>
                <a:gridCol w="1194733">
                  <a:extLst>
                    <a:ext uri="{9D8B030D-6E8A-4147-A177-3AD203B41FA5}">
                      <a16:colId xmlns:a16="http://schemas.microsoft.com/office/drawing/2014/main" val="3313974361"/>
                    </a:ext>
                  </a:extLst>
                </a:gridCol>
                <a:gridCol w="1783709">
                  <a:extLst>
                    <a:ext uri="{9D8B030D-6E8A-4147-A177-3AD203B41FA5}">
                      <a16:colId xmlns:a16="http://schemas.microsoft.com/office/drawing/2014/main" val="15759807"/>
                    </a:ext>
                  </a:extLst>
                </a:gridCol>
                <a:gridCol w="1538058">
                  <a:extLst>
                    <a:ext uri="{9D8B030D-6E8A-4147-A177-3AD203B41FA5}">
                      <a16:colId xmlns:a16="http://schemas.microsoft.com/office/drawing/2014/main" val="3152042435"/>
                    </a:ext>
                  </a:extLst>
                </a:gridCol>
                <a:gridCol w="1475977">
                  <a:extLst>
                    <a:ext uri="{9D8B030D-6E8A-4147-A177-3AD203B41FA5}">
                      <a16:colId xmlns:a16="http://schemas.microsoft.com/office/drawing/2014/main" val="2225312257"/>
                    </a:ext>
                  </a:extLst>
                </a:gridCol>
                <a:gridCol w="1772270">
                  <a:extLst>
                    <a:ext uri="{9D8B030D-6E8A-4147-A177-3AD203B41FA5}">
                      <a16:colId xmlns:a16="http://schemas.microsoft.com/office/drawing/2014/main" val="82390248"/>
                    </a:ext>
                  </a:extLst>
                </a:gridCol>
              </a:tblGrid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Developer 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Error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No Error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Observation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Grand Total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 Quality Score 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2080141605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Krupa </a:t>
                      </a:r>
                      <a:r>
                        <a:rPr lang="en-US" sz="1300" u="none" strike="noStrike" dirty="0" err="1">
                          <a:effectLst/>
                        </a:rPr>
                        <a:t>Jalgaonkar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  81.82 %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2121165580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Komal Gala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  94.12 %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426380721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Anish Kulkarni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1672371789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Dan Dsouza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3387328814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Dipali </a:t>
                      </a:r>
                      <a:r>
                        <a:rPr lang="en-US" sz="1300" u="none" strike="noStrike" dirty="0" err="1">
                          <a:effectLst/>
                        </a:rPr>
                        <a:t>Dugaokar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1249418756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JYOTI SAJANLAL GUPTA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166998561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Neha Lal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3559852570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Mitesh Gupta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1675964651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Supriya Mhashelkar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               100.00 %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1944205472"/>
                  </a:ext>
                </a:extLst>
              </a:tr>
              <a:tr h="4871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Grand Total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121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124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                 97.63 %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03" marR="11203" marT="11203" marB="0" anchor="b"/>
                </a:tc>
                <a:extLst>
                  <a:ext uri="{0D108BD9-81ED-4DB2-BD59-A6C34878D82A}">
                    <a16:rowId xmlns:a16="http://schemas.microsoft.com/office/drawing/2014/main" val="3920823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71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5B610-6B25-4291-68E6-FA438E5C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BB5C44-D616-04BF-5837-311673B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96ACB-D594-2CBF-A776-85BC37259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75853-C0B6-3487-1C6A-1B0ED949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8E0368-5B56-B144-8FD0-60267C0D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00090-FBA7-EB2E-9063-908CE4B7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C3 </a:t>
            </a:r>
            <a:r>
              <a:rPr lang="en-IN" sz="4000" i="1" dirty="0">
                <a:solidFill>
                  <a:srgbClr val="FFFFFF"/>
                </a:solidFill>
              </a:rPr>
              <a:t>Jan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4AF5A2-F117-B4FC-11E9-D14BD2A39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Navigation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53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1FB82-2CBE-6F4B-7009-83230117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8DB44B-2588-0053-0001-155A0B750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01A82-5B0E-BCEE-1EBA-1A225D8B3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468614-A50F-C3A7-44ED-1CCFC7E8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1C8531-12DB-2CCC-449C-592F19A4C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5E0F2-431A-2335-4894-D25149F4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C3 Jan 2026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E68822D-6400-1C7D-E4FD-80BA36A2D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801825"/>
              </p:ext>
            </p:extLst>
          </p:nvPr>
        </p:nvGraphicFramePr>
        <p:xfrm>
          <a:off x="-11971" y="2170032"/>
          <a:ext cx="12192001" cy="4687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040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05660-2176-AD3C-AAFE-9412A4DD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6A1E11-B810-EC0F-EE25-27833F22E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6AF77-BF27-C948-7C87-DF3DF901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C3 Feb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64CF2672-13F6-4A5C-CC8E-749FB1E31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18AC7942-9905-070E-5A40-703659FEA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71C12629-3745-2603-958F-208CA452A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098538-AF97-FAF7-433E-EAD0BC67C0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201375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88.23%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32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128A4-867C-B333-0CD3-DF28AB25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7" name="Rectangle 39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FD697-6EC8-2930-00F4-DB1C450A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C3 Feb 2026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16563A-9BCA-E210-7AB8-C2D25A991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629413"/>
              </p:ext>
            </p:extLst>
          </p:nvPr>
        </p:nvGraphicFramePr>
        <p:xfrm>
          <a:off x="0" y="1575459"/>
          <a:ext cx="12192001" cy="52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527">
                  <a:extLst>
                    <a:ext uri="{9D8B030D-6E8A-4147-A177-3AD203B41FA5}">
                      <a16:colId xmlns:a16="http://schemas.microsoft.com/office/drawing/2014/main" val="2783312205"/>
                    </a:ext>
                  </a:extLst>
                </a:gridCol>
                <a:gridCol w="1052306">
                  <a:extLst>
                    <a:ext uri="{9D8B030D-6E8A-4147-A177-3AD203B41FA5}">
                      <a16:colId xmlns:a16="http://schemas.microsoft.com/office/drawing/2014/main" val="2530633049"/>
                    </a:ext>
                  </a:extLst>
                </a:gridCol>
                <a:gridCol w="1570866">
                  <a:extLst>
                    <a:ext uri="{9D8B030D-6E8A-4147-A177-3AD203B41FA5}">
                      <a16:colId xmlns:a16="http://schemas.microsoft.com/office/drawing/2014/main" val="3719113490"/>
                    </a:ext>
                  </a:extLst>
                </a:gridCol>
                <a:gridCol w="1354583">
                  <a:extLst>
                    <a:ext uri="{9D8B030D-6E8A-4147-A177-3AD203B41FA5}">
                      <a16:colId xmlns:a16="http://schemas.microsoft.com/office/drawing/2014/main" val="2338053621"/>
                    </a:ext>
                  </a:extLst>
                </a:gridCol>
                <a:gridCol w="1299926">
                  <a:extLst>
                    <a:ext uri="{9D8B030D-6E8A-4147-A177-3AD203B41FA5}">
                      <a16:colId xmlns:a16="http://schemas.microsoft.com/office/drawing/2014/main" val="3577406165"/>
                    </a:ext>
                  </a:extLst>
                </a:gridCol>
                <a:gridCol w="1560793">
                  <a:extLst>
                    <a:ext uri="{9D8B030D-6E8A-4147-A177-3AD203B41FA5}">
                      <a16:colId xmlns:a16="http://schemas.microsoft.com/office/drawing/2014/main" val="2899054311"/>
                    </a:ext>
                  </a:extLst>
                </a:gridCol>
              </a:tblGrid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Developer Name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Error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No Error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Observation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Grand Total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 Quality Score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2091461982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DEEPIKA DAMBARLAL SAMBARIA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  50.00 %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4103868928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Krupa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  50.00 %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279203287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JYOTI SAJANLAL GUPTA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  80.00 %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4060449530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Dipali Dugaokar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  91.67 %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2642649086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Neha Lal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  92.31 %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3992550824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Anish Kulkarni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  94.74 %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4167169675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Dan Dsouza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100.00 %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4199357576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Komal Gala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100.00 %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1257266780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Mitesh Gupta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100.00 %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180630766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Supriya Mhashelkar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              100.00 %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3968153404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Grand Total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8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68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                88.23 %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49" marR="10049" marT="10049" marB="0" anchor="b"/>
                </a:tc>
                <a:extLst>
                  <a:ext uri="{0D108BD9-81ED-4DB2-BD59-A6C34878D82A}">
                    <a16:rowId xmlns:a16="http://schemas.microsoft.com/office/drawing/2014/main" val="2492857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25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22538-8EFD-1730-596B-CC765DA2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CC44E2-44C0-D03C-BA88-401E21C67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C2EABE-7F47-5E6C-11E4-E2FD66EEC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19066A-606B-260A-8B8B-28DA63D9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19D7-E71F-A9F2-8B3A-73BBFADC3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9D8C8-921D-4D0E-831A-B65AA3E4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C3 </a:t>
            </a:r>
            <a:r>
              <a:rPr lang="en-IN" sz="4000" i="1" dirty="0">
                <a:solidFill>
                  <a:srgbClr val="FFFFFF"/>
                </a:solidFill>
              </a:rPr>
              <a:t>Feb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8F20A6-FF3B-B3CD-AD4F-BF6518ECB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936884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Navigation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26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BF519-ED32-A7BC-838A-F8D8294F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C8ABD-082C-BACF-18D0-B31FE3167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00851-895A-426E-A129-046C5673C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5D6BE-512C-1BFA-19A8-4969550AF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4BDF35-A2D7-52F6-1574-918E7A11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642B3-E0CF-7BCA-E7AE-4C0513A6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C3 Feb 2026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6476663-A477-3347-1C04-B9F94AB4B5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298938"/>
              </p:ext>
            </p:extLst>
          </p:nvPr>
        </p:nvGraphicFramePr>
        <p:xfrm>
          <a:off x="0" y="2170032"/>
          <a:ext cx="12180029" cy="4687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974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EE899-ADD4-C9FF-013C-39F6C2DB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D85AC9-3ADB-5287-FE2C-BA4C9F40A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E5485-3BE2-3747-B686-9EAAF98F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C3 Mar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1705F17A-DD49-4D7D-38CA-BB0B4BFED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C3D924BC-FD20-6B8A-115E-641DA16FE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AF3A1A62-6A4D-CF85-D2E9-37BA2D3C2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CA851E-12DD-A213-A53C-31AAA2E4E7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135606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92.25%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17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947F2-D66D-BDE5-DA1E-1C831A95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8" name="Rectangle 40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B9781-32E6-40BD-1E31-D4D22139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C3 Mar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7A64A5-B62A-69F2-4AA0-9B7688CA8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484145"/>
              </p:ext>
            </p:extLst>
          </p:nvPr>
        </p:nvGraphicFramePr>
        <p:xfrm>
          <a:off x="0" y="1575458"/>
          <a:ext cx="12192000" cy="52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4532">
                  <a:extLst>
                    <a:ext uri="{9D8B030D-6E8A-4147-A177-3AD203B41FA5}">
                      <a16:colId xmlns:a16="http://schemas.microsoft.com/office/drawing/2014/main" val="720767896"/>
                    </a:ext>
                  </a:extLst>
                </a:gridCol>
                <a:gridCol w="1314688">
                  <a:extLst>
                    <a:ext uri="{9D8B030D-6E8A-4147-A177-3AD203B41FA5}">
                      <a16:colId xmlns:a16="http://schemas.microsoft.com/office/drawing/2014/main" val="2213506061"/>
                    </a:ext>
                  </a:extLst>
                </a:gridCol>
                <a:gridCol w="1963824">
                  <a:extLst>
                    <a:ext uri="{9D8B030D-6E8A-4147-A177-3AD203B41FA5}">
                      <a16:colId xmlns:a16="http://schemas.microsoft.com/office/drawing/2014/main" val="1160204047"/>
                    </a:ext>
                  </a:extLst>
                </a:gridCol>
                <a:gridCol w="1693081">
                  <a:extLst>
                    <a:ext uri="{9D8B030D-6E8A-4147-A177-3AD203B41FA5}">
                      <a16:colId xmlns:a16="http://schemas.microsoft.com/office/drawing/2014/main" val="999091853"/>
                    </a:ext>
                  </a:extLst>
                </a:gridCol>
                <a:gridCol w="1624659">
                  <a:extLst>
                    <a:ext uri="{9D8B030D-6E8A-4147-A177-3AD203B41FA5}">
                      <a16:colId xmlns:a16="http://schemas.microsoft.com/office/drawing/2014/main" val="855475753"/>
                    </a:ext>
                  </a:extLst>
                </a:gridCol>
                <a:gridCol w="1951216">
                  <a:extLst>
                    <a:ext uri="{9D8B030D-6E8A-4147-A177-3AD203B41FA5}">
                      <a16:colId xmlns:a16="http://schemas.microsoft.com/office/drawing/2014/main" val="520891910"/>
                    </a:ext>
                  </a:extLst>
                </a:gridCol>
              </a:tblGrid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Developer name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Error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No Error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Observation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Grand Total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Quality Score 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3489778109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Jyoti Gupta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27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  81.48 %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3370245706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Krupa Jalgaonkar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7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8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  87.50 %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2500425820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Neha </a:t>
                      </a:r>
                      <a:r>
                        <a:rPr lang="en-IN" sz="1300" u="none" strike="noStrike" dirty="0" err="1">
                          <a:effectLst/>
                        </a:rPr>
                        <a:t>lal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4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33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37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  89.19 %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254604638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Anish Kulkarni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12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2911733145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Dan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1444781660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Dipali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29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4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29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2567495295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Supriya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3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3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1180177309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Kapil Kumar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5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3902933218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Komal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2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817134632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Neha Gupta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1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               100.00 %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1498197411"/>
                  </a:ext>
                </a:extLst>
              </a:tr>
              <a:tr h="440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Grand Total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10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119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u="none" strike="noStrike" dirty="0">
                          <a:effectLst/>
                        </a:rPr>
                        <a:t>8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u="none" strike="noStrike" dirty="0">
                          <a:effectLst/>
                        </a:rPr>
                        <a:t>129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u="none" strike="noStrike" dirty="0">
                          <a:effectLst/>
                        </a:rPr>
                        <a:t>                 92.25 %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15" marR="11415" marT="11415" marB="0" anchor="b"/>
                </a:tc>
                <a:extLst>
                  <a:ext uri="{0D108BD9-81ED-4DB2-BD59-A6C34878D82A}">
                    <a16:rowId xmlns:a16="http://schemas.microsoft.com/office/drawing/2014/main" val="3747938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6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E498E-B598-2B03-FE7D-4D8347BB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1A440C-AC71-FA29-A0F2-8CC9C8792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55D644-6C5D-62E3-7CB3-22CB5835C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B1A268-CCA2-26BE-80D5-7E010472F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76C763-EB6E-B12D-D368-B1E01DC5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1103B-F347-CD90-D857-7A7757C7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348865"/>
            <a:ext cx="10150699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C3 M</a:t>
            </a:r>
            <a:r>
              <a:rPr lang="en-IN" sz="4000" b="1" i="1" dirty="0">
                <a:solidFill>
                  <a:srgbClr val="FFFFFF"/>
                </a:solidFill>
                <a:latin typeface="Calibri" panose="020F0502020204030204" pitchFamily="34" charset="0"/>
              </a:rPr>
              <a:t>ar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2CB072-44E7-761F-068C-F81368346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665411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Redirected link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97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F1B7C-C74F-FE99-06E6-F79CF796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4FE895-1E69-C708-8129-B7E4CE0E1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E36B8-D98F-B30C-F5ED-527848F31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F168B-C2F2-C9C8-9485-897EC0CFB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2BF28A-0340-B118-4AD2-E55B599D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BD1A4-58AC-641C-DC3C-5FCB2A53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C3 Mar 2026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E7994E0-0B31-DA80-C7D2-DD1E6FB6B8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333104"/>
              </p:ext>
            </p:extLst>
          </p:nvPr>
        </p:nvGraphicFramePr>
        <p:xfrm>
          <a:off x="0" y="2170031"/>
          <a:ext cx="12180029" cy="468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303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2F71E-CF40-A311-7715-A7E0AD03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DE31B9-77B5-0C2A-66E4-FA7AFD537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AFAB66-3DA6-5E83-0FF8-21276D1A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C3 Apr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3392A873-C9E3-3120-E756-802C3737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B263AC5D-7308-52D5-6109-EFA08847C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3D0E194D-26F7-6C94-8A78-F239D40C8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4AABAF-8B41-5798-94C1-7164E7AEE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569834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95.74%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050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0098D-129D-AB58-517D-1E3FF47F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" name="Rectangle 4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4E940-9667-4F97-DA91-8BD4A7C4B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C3 Apr 2026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FD51B2B-061C-39A1-F646-09F3E55212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837394"/>
              </p:ext>
            </p:extLst>
          </p:nvPr>
        </p:nvGraphicFramePr>
        <p:xfrm>
          <a:off x="0" y="1575458"/>
          <a:ext cx="12192000" cy="528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3619">
                  <a:extLst>
                    <a:ext uri="{9D8B030D-6E8A-4147-A177-3AD203B41FA5}">
                      <a16:colId xmlns:a16="http://schemas.microsoft.com/office/drawing/2014/main" val="1496387461"/>
                    </a:ext>
                  </a:extLst>
                </a:gridCol>
                <a:gridCol w="900481">
                  <a:extLst>
                    <a:ext uri="{9D8B030D-6E8A-4147-A177-3AD203B41FA5}">
                      <a16:colId xmlns:a16="http://schemas.microsoft.com/office/drawing/2014/main" val="4187913518"/>
                    </a:ext>
                  </a:extLst>
                </a:gridCol>
                <a:gridCol w="1363913">
                  <a:extLst>
                    <a:ext uri="{9D8B030D-6E8A-4147-A177-3AD203B41FA5}">
                      <a16:colId xmlns:a16="http://schemas.microsoft.com/office/drawing/2014/main" val="1399628062"/>
                    </a:ext>
                  </a:extLst>
                </a:gridCol>
                <a:gridCol w="1844259">
                  <a:extLst>
                    <a:ext uri="{9D8B030D-6E8A-4147-A177-3AD203B41FA5}">
                      <a16:colId xmlns:a16="http://schemas.microsoft.com/office/drawing/2014/main" val="3742358179"/>
                    </a:ext>
                  </a:extLst>
                </a:gridCol>
                <a:gridCol w="1810432">
                  <a:extLst>
                    <a:ext uri="{9D8B030D-6E8A-4147-A177-3AD203B41FA5}">
                      <a16:colId xmlns:a16="http://schemas.microsoft.com/office/drawing/2014/main" val="318009603"/>
                    </a:ext>
                  </a:extLst>
                </a:gridCol>
                <a:gridCol w="2189296">
                  <a:extLst>
                    <a:ext uri="{9D8B030D-6E8A-4147-A177-3AD203B41FA5}">
                      <a16:colId xmlns:a16="http://schemas.microsoft.com/office/drawing/2014/main" val="1599596904"/>
                    </a:ext>
                  </a:extLst>
                </a:gridCol>
              </a:tblGrid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Developer Name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Error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No Error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Observation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Grand Total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 Quality Score 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2072862071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Gaurav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  66.67% 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3238961179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DAN DSOUZA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4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5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  80.00 %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3821251536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Jyoti Gupta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18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19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  94.74 %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1344772634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ANISH AJIT KULKARNI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42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0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43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  97.67 %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2487254698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DIPALI TANAJI DUGAOKAR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15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15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100.00 %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3073221627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Kapil Kumar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1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1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100.00 %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4211548762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Komal Gala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0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2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100.00 %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1227721778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NEHA LAL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0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>
                          <a:effectLst/>
                        </a:rPr>
                        <a:t>6</a:t>
                      </a:r>
                      <a:endParaRPr lang="en-IN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1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6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               100.00 %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1076443600"/>
                  </a:ext>
                </a:extLst>
              </a:tr>
              <a:tr h="528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b="1" u="none" strike="noStrike">
                          <a:effectLst/>
                        </a:rPr>
                        <a:t>Grand Total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b="1" u="none" strike="noStrike">
                          <a:effectLst/>
                        </a:rPr>
                        <a:t>4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b="1" u="none" strike="noStrike">
                          <a:effectLst/>
                        </a:rPr>
                        <a:t>90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b="1" u="none" strike="noStrike">
                          <a:effectLst/>
                        </a:rPr>
                        <a:t>4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b="1" u="none" strike="noStrike" dirty="0">
                          <a:effectLst/>
                        </a:rPr>
                        <a:t>94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100" b="1" u="none" strike="noStrike" dirty="0">
                          <a:effectLst/>
                        </a:rPr>
                        <a:t>                 95.74 %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192" marR="18192" marT="18192" marB="0" anchor="b"/>
                </a:tc>
                <a:extLst>
                  <a:ext uri="{0D108BD9-81ED-4DB2-BD59-A6C34878D82A}">
                    <a16:rowId xmlns:a16="http://schemas.microsoft.com/office/drawing/2014/main" val="525895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854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32EF7-AC78-6202-80C8-DAFDFC68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C02716-DCDE-A13E-FF20-A32AA7357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60AB5-6AF2-09E6-0CD9-648786023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1A9FE-808C-4837-1B3D-12C8FDB2E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523AB0-637C-4151-B6D8-44A8E3B20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3B660-A306-F197-1043-D9B17E1D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348865"/>
            <a:ext cx="10150699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C3 Apr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97C9D2-47A5-931A-FA57-23C537C00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358472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Redirected link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883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9948E-EB3A-B24D-6E4D-081A236D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062670-E479-3B74-BCCA-A2183B5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63A63C-79FC-BC54-CB23-A84115926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B07BC-710A-D61B-7905-196C5F42A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3D2991-A7C8-6247-FAB1-864BCAED3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D3F7B-1453-8679-68E5-788FA831B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C3 Apr 2026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6C01CA5-1E87-385E-0427-DE8125CB1C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573819"/>
              </p:ext>
            </p:extLst>
          </p:nvPr>
        </p:nvGraphicFramePr>
        <p:xfrm>
          <a:off x="0" y="2170031"/>
          <a:ext cx="12192000" cy="46879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530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9FF5C-44E1-38C6-C073-4F401108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3EE2E0-83F8-3A57-55BB-4208C37D7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701D4-8DBB-9879-D12A-A6914D02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C3 May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CE3E202B-5F62-3622-EC5A-6C62B7ED3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00EC6F2F-4146-1ECF-5792-69B1CFFB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F6EA2249-0AB2-7677-8E56-95A93CB8A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CC2C05-140F-F850-FD3E-3AC5D35D30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459806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90.82%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40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CAD93-FCBC-159E-DD20-E32358BA9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" name="Rectangle 4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34501-3CE8-1D04-1D90-1E3A4853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C3 May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321BDB-17AF-A6AC-0816-F347AB4B62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321179"/>
              </p:ext>
            </p:extLst>
          </p:nvPr>
        </p:nvGraphicFramePr>
        <p:xfrm>
          <a:off x="-2" y="1575459"/>
          <a:ext cx="12192002" cy="528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6556">
                  <a:extLst>
                    <a:ext uri="{9D8B030D-6E8A-4147-A177-3AD203B41FA5}">
                      <a16:colId xmlns:a16="http://schemas.microsoft.com/office/drawing/2014/main" val="3073561936"/>
                    </a:ext>
                  </a:extLst>
                </a:gridCol>
                <a:gridCol w="1225143">
                  <a:extLst>
                    <a:ext uri="{9D8B030D-6E8A-4147-A177-3AD203B41FA5}">
                      <a16:colId xmlns:a16="http://schemas.microsoft.com/office/drawing/2014/main" val="728906687"/>
                    </a:ext>
                  </a:extLst>
                </a:gridCol>
                <a:gridCol w="1830116">
                  <a:extLst>
                    <a:ext uri="{9D8B030D-6E8A-4147-A177-3AD203B41FA5}">
                      <a16:colId xmlns:a16="http://schemas.microsoft.com/office/drawing/2014/main" val="2866232893"/>
                    </a:ext>
                  </a:extLst>
                </a:gridCol>
                <a:gridCol w="1577793">
                  <a:extLst>
                    <a:ext uri="{9D8B030D-6E8A-4147-A177-3AD203B41FA5}">
                      <a16:colId xmlns:a16="http://schemas.microsoft.com/office/drawing/2014/main" val="2610600954"/>
                    </a:ext>
                  </a:extLst>
                </a:gridCol>
                <a:gridCol w="1514027">
                  <a:extLst>
                    <a:ext uri="{9D8B030D-6E8A-4147-A177-3AD203B41FA5}">
                      <a16:colId xmlns:a16="http://schemas.microsoft.com/office/drawing/2014/main" val="931492520"/>
                    </a:ext>
                  </a:extLst>
                </a:gridCol>
                <a:gridCol w="1818367">
                  <a:extLst>
                    <a:ext uri="{9D8B030D-6E8A-4147-A177-3AD203B41FA5}">
                      <a16:colId xmlns:a16="http://schemas.microsoft.com/office/drawing/2014/main" val="3739524180"/>
                    </a:ext>
                  </a:extLst>
                </a:gridCol>
              </a:tblGrid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Developer Name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Error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No Error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Observation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Grand Total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 Quality Score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1589114012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DAN DSOUZA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  33.33 %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4285895132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GAURAV PARDESHI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  50.00 %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1746389522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Dipali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  75.00 %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301706534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Jyoti Gupta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  85.19 %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2364094869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ANISH AJIT KULKARNI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3627998859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Kapil Kumar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527855394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Mitesh Salunkhe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3952644930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Neha Lal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2986914282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Sachin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3157877139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Mitesh Gupta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3643360508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Supriya Mhashelkar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               100.00 %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4042615509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</a:rPr>
                        <a:t>Grand Total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</a:rPr>
                        <a:t>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</a:rPr>
                        <a:t>89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11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98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</a:rPr>
                        <a:t>                 90.82 % 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94" marR="10594" marT="10594" marB="0" anchor="b"/>
                </a:tc>
                <a:extLst>
                  <a:ext uri="{0D108BD9-81ED-4DB2-BD59-A6C34878D82A}">
                    <a16:rowId xmlns:a16="http://schemas.microsoft.com/office/drawing/2014/main" val="161015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133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84325-9458-5893-D4F9-BEFF886A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629E8C-6551-369B-A467-8FF74BC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ADE76-D9BA-6423-143C-863F6F61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1BFD05-D66D-5ED5-CAB5-64F09CF6A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011085-DF07-A98C-D772-88F5805A2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2F3CC-70F4-DAC2-CF19-6A2642F0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348865"/>
            <a:ext cx="10150699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C3 May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96F248-5D31-8B91-D3FE-05A7B5536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126289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Redirected link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096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58D47-033C-6129-607E-81F330EA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722355-286A-0F5A-A457-5CB621C9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9E5FB9-C62F-E987-D8B8-DE6F542AD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8E6D62-C650-3792-78DC-081C3F604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A45CA-02FE-23A8-FFBA-87446F24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5F7F8-1EC1-AA76-00D7-3F16C2E5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C3 May 2026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637DA0C-13B8-6A6E-040C-BE78D400A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5272349"/>
              </p:ext>
            </p:extLst>
          </p:nvPr>
        </p:nvGraphicFramePr>
        <p:xfrm>
          <a:off x="-1" y="2170031"/>
          <a:ext cx="12192001" cy="468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81495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BFC72-CC1C-BCC2-9A8B-9D65A40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B0C114-08AF-D790-236F-BFBA14E49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8E544-2AB9-D3B2-5AC7-6B477F61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C3 June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EF83C916-A62A-3950-D039-35F488C2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F7225770-F98C-6FA7-E989-38477654C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E6437AEE-3EBA-0EAF-0A72-3CCEC5AA4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200F8D-0BBE-9E99-07F4-56F1CFE48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872965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92.97%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293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84F36-3110-2D76-97F8-E90817657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8" name="Rectangle 46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8EDED-07F8-139C-8CC1-7773EA12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i="1">
                <a:solidFill>
                  <a:srgbClr val="FFFFFF"/>
                </a:solidFill>
              </a:rPr>
              <a:t>Developer Report C3 June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9D76241-D9E0-3DE5-FD92-A15CBEF03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517237"/>
              </p:ext>
            </p:extLst>
          </p:nvPr>
        </p:nvGraphicFramePr>
        <p:xfrm>
          <a:off x="0" y="2170031"/>
          <a:ext cx="12180029" cy="4687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5862">
                  <a:extLst>
                    <a:ext uri="{9D8B030D-6E8A-4147-A177-3AD203B41FA5}">
                      <a16:colId xmlns:a16="http://schemas.microsoft.com/office/drawing/2014/main" val="1181915289"/>
                    </a:ext>
                  </a:extLst>
                </a:gridCol>
                <a:gridCol w="1075928">
                  <a:extLst>
                    <a:ext uri="{9D8B030D-6E8A-4147-A177-3AD203B41FA5}">
                      <a16:colId xmlns:a16="http://schemas.microsoft.com/office/drawing/2014/main" val="2931692454"/>
                    </a:ext>
                  </a:extLst>
                </a:gridCol>
                <a:gridCol w="1381014">
                  <a:extLst>
                    <a:ext uri="{9D8B030D-6E8A-4147-A177-3AD203B41FA5}">
                      <a16:colId xmlns:a16="http://schemas.microsoft.com/office/drawing/2014/main" val="1552285623"/>
                    </a:ext>
                  </a:extLst>
                </a:gridCol>
                <a:gridCol w="1914483">
                  <a:extLst>
                    <a:ext uri="{9D8B030D-6E8A-4147-A177-3AD203B41FA5}">
                      <a16:colId xmlns:a16="http://schemas.microsoft.com/office/drawing/2014/main" val="2297851030"/>
                    </a:ext>
                  </a:extLst>
                </a:gridCol>
                <a:gridCol w="1837726">
                  <a:extLst>
                    <a:ext uri="{9D8B030D-6E8A-4147-A177-3AD203B41FA5}">
                      <a16:colId xmlns:a16="http://schemas.microsoft.com/office/drawing/2014/main" val="507923858"/>
                    </a:ext>
                  </a:extLst>
                </a:gridCol>
                <a:gridCol w="2195016">
                  <a:extLst>
                    <a:ext uri="{9D8B030D-6E8A-4147-A177-3AD203B41FA5}">
                      <a16:colId xmlns:a16="http://schemas.microsoft.com/office/drawing/2014/main" val="2404743165"/>
                    </a:ext>
                  </a:extLst>
                </a:gridCol>
              </a:tblGrid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Developer Name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Error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No Error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Observation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Grand Total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 Quality Score 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2831495028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DIPALI TANAJI DUGAOKAR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   76.92 %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3157406683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Mitesh Gupta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   85.71 %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1623653847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Jyoti Gupta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   90.48 %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2086639175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Mitesh Salunkhe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   95.24 %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2508584748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Neha Lal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100.00 %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82046047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Dan Dsouza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100.00 %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3510447757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Kapil K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100.00 %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102326624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Supriya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100.00 %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3299419160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ANISH AJIT KULKARNI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       100.00 %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962121469"/>
                  </a:ext>
                </a:extLst>
              </a:tr>
              <a:tr h="4261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Grand Total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9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119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10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u="none" strike="noStrike">
                          <a:effectLst/>
                        </a:rPr>
                        <a:t>128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          92.97 %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2218" marR="12218" marT="12218" marB="0" anchor="b"/>
                </a:tc>
                <a:extLst>
                  <a:ext uri="{0D108BD9-81ED-4DB2-BD59-A6C34878D82A}">
                    <a16:rowId xmlns:a16="http://schemas.microsoft.com/office/drawing/2014/main" val="1005773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429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20A5A-CAEB-0D68-49F4-C5FE99AE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37B196-5C70-517C-573B-BCF6B6DC7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A62B5D-6E7F-331A-9CAF-549EFCC2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AD71F7-6259-8986-1BB8-A55F92912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E3325-C386-01C9-83A1-19303B33B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E9E63-EB10-04B6-61E2-6D6F30F9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76" y="348865"/>
            <a:ext cx="10150699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C3 June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656499-0038-E89E-71BD-A70931966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161009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Redirected link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0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CFFEB-84C1-1E0D-72E7-29FA6986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8A4475-354C-31E6-5E69-DFA8D470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A26A2-259D-AF2B-DF3C-3A2624B43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85F99D-EBD0-E60D-3CC6-7B862F853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9A22F0-7BDC-0736-915D-1CED5076F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21829-C266-39D7-37F1-61887AAF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C3 June 2026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6CB2BB0-ABCF-D0B4-AFF1-4C132099E2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783977"/>
              </p:ext>
            </p:extLst>
          </p:nvPr>
        </p:nvGraphicFramePr>
        <p:xfrm>
          <a:off x="-2" y="2170031"/>
          <a:ext cx="12192001" cy="468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5924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BEEE2-5D93-1C52-AB6A-2925C411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97B176A-BD62-78FF-9FB0-80D31DD9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C9CE95-A141-F8BF-886D-DA784CD43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F4ACA6-3A01-EC40-15C9-5DEDDC9D3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F73E17-2321-0842-27C0-74714DB1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D73E6-27DC-E408-A186-34EF4DE6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Quality Score Dashboard Jan – June BMW C3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7DDE6F3-3D56-2976-81F6-4B829B226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4278077"/>
              </p:ext>
            </p:extLst>
          </p:nvPr>
        </p:nvGraphicFramePr>
        <p:xfrm>
          <a:off x="-1" y="2170031"/>
          <a:ext cx="12192001" cy="468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86689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BD400-3459-100F-5103-42A62538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539E44-AB0D-5D3A-0BA0-DBFC15EBE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3F363D-08AB-F9AD-F7A0-6A268346B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C8A213-70AC-83B0-E191-B6059A8AC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CC2A14-B47E-86FF-3585-A792FF564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C5A15-BE60-3444-47C4-6CBD5C82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BMW C3 QA Summary Report </a:t>
            </a:r>
            <a:b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</a:br>
            <a: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(Jan – June 2026)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F502BE-9102-88E3-4B47-FFA49317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818233"/>
              </p:ext>
            </p:extLst>
          </p:nvPr>
        </p:nvGraphicFramePr>
        <p:xfrm>
          <a:off x="11971" y="2179174"/>
          <a:ext cx="12168060" cy="4687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1417">
                  <a:extLst>
                    <a:ext uri="{9D8B030D-6E8A-4147-A177-3AD203B41FA5}">
                      <a16:colId xmlns:a16="http://schemas.microsoft.com/office/drawing/2014/main" val="3716633824"/>
                    </a:ext>
                  </a:extLst>
                </a:gridCol>
                <a:gridCol w="4766643">
                  <a:extLst>
                    <a:ext uri="{9D8B030D-6E8A-4147-A177-3AD203B41FA5}">
                      <a16:colId xmlns:a16="http://schemas.microsoft.com/office/drawing/2014/main" val="602715913"/>
                    </a:ext>
                  </a:extLst>
                </a:gridCol>
              </a:tblGrid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KPI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Value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3459838459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Tasks Audited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641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922995182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Error Free Tasks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598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3105630373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Defects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43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701015878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Internal Defects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37(86.05%)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499446095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External Defects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  <a:r>
                        <a:rPr lang="en-IN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(13.95%)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4140443205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Observations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38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3616172812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>
                          <a:effectLst/>
                        </a:rPr>
                        <a:t>Total Developers Audited</a:t>
                      </a:r>
                      <a:endParaRPr lang="en-IN" sz="25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0151270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Developers Below 90%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2978544465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Average Quality Score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93.29%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000797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478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0A4DA-0BA7-EC5B-D5CA-B162A50C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07C8F9-EA5D-FCC8-F181-8C103134C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4AD19-8FF6-266A-D6C7-9B9DD0A0F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50F95F-64A3-E23F-FDEA-6531F2621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95B74A-912B-4694-290D-A3E32A329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F7750-EF97-8D06-4FAE-B2F99520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Developer Summary Report BMW C3</a:t>
            </a:r>
            <a:b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 (Jan – Jun 2026)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DE2B2-9860-1B35-557B-6E32E9EC8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279969"/>
              </p:ext>
            </p:extLst>
          </p:nvPr>
        </p:nvGraphicFramePr>
        <p:xfrm>
          <a:off x="-11972" y="2170031"/>
          <a:ext cx="12192003" cy="4687971"/>
        </p:xfrm>
        <a:graphic>
          <a:graphicData uri="http://schemas.openxmlformats.org/drawingml/2006/table">
            <a:tbl>
              <a:tblPr firstRow="1" bandRow="1"/>
              <a:tblGrid>
                <a:gridCol w="3584008">
                  <a:extLst>
                    <a:ext uri="{9D8B030D-6E8A-4147-A177-3AD203B41FA5}">
                      <a16:colId xmlns:a16="http://schemas.microsoft.com/office/drawing/2014/main" val="3156903958"/>
                    </a:ext>
                  </a:extLst>
                </a:gridCol>
                <a:gridCol w="1441825">
                  <a:extLst>
                    <a:ext uri="{9D8B030D-6E8A-4147-A177-3AD203B41FA5}">
                      <a16:colId xmlns:a16="http://schemas.microsoft.com/office/drawing/2014/main" val="2929372930"/>
                    </a:ext>
                  </a:extLst>
                </a:gridCol>
                <a:gridCol w="1441825">
                  <a:extLst>
                    <a:ext uri="{9D8B030D-6E8A-4147-A177-3AD203B41FA5}">
                      <a16:colId xmlns:a16="http://schemas.microsoft.com/office/drawing/2014/main" val="2875366938"/>
                    </a:ext>
                  </a:extLst>
                </a:gridCol>
                <a:gridCol w="1864053">
                  <a:extLst>
                    <a:ext uri="{9D8B030D-6E8A-4147-A177-3AD203B41FA5}">
                      <a16:colId xmlns:a16="http://schemas.microsoft.com/office/drawing/2014/main" val="4147127024"/>
                    </a:ext>
                  </a:extLst>
                </a:gridCol>
                <a:gridCol w="1991542">
                  <a:extLst>
                    <a:ext uri="{9D8B030D-6E8A-4147-A177-3AD203B41FA5}">
                      <a16:colId xmlns:a16="http://schemas.microsoft.com/office/drawing/2014/main" val="4037342901"/>
                    </a:ext>
                  </a:extLst>
                </a:gridCol>
                <a:gridCol w="1868750">
                  <a:extLst>
                    <a:ext uri="{9D8B030D-6E8A-4147-A177-3AD203B41FA5}">
                      <a16:colId xmlns:a16="http://schemas.microsoft.com/office/drawing/2014/main" val="3952562692"/>
                    </a:ext>
                  </a:extLst>
                </a:gridCol>
              </a:tblGrid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Developer Name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Total Tasks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Error Tasks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No Error Tasks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Observations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Quality Score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519494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Deepika Dambarlal Sambaria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50.00%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60859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Gaurav Pardeshi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60.00% 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406602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Krupa Jalgaonkar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78.26 %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891582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Dan Dsouza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85.00 %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72000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Jyoti Gupta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108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88.52 %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91042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Mitesh Gupta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89.66 %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644855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Dipali Dugaokar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96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93.75 %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607877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Neha Lal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95.00 %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166533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Komal Gala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95.65 %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552919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Mitesh Salunkhe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96.15 %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596075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ANISH AJIT KULKARNI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149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98.68 %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19729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Supriya Mhashelkar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100.00 %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490777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Kapil Kumar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100.00 %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82191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Neha Gupta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100.00 %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5947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Sachin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100.00 %</a:t>
                      </a:r>
                      <a:endParaRPr lang="en-IN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015178"/>
                  </a:ext>
                </a:extLst>
              </a:tr>
              <a:tr h="2757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Total</a:t>
                      </a:r>
                      <a:endParaRPr lang="en-IN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3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641</a:t>
                      </a:r>
                      <a:endParaRPr lang="en-IN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3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43</a:t>
                      </a:r>
                      <a:endParaRPr lang="en-IN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3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598</a:t>
                      </a:r>
                      <a:endParaRPr lang="en-IN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3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38</a:t>
                      </a:r>
                      <a:endParaRPr lang="en-IN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            93.29 %</a:t>
                      </a:r>
                      <a:endParaRPr lang="en-IN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254" marR="10254" marT="10254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369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441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2ED11-E9EA-A541-778D-CA0612CC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A2069E-0180-BC6A-0BA9-B6E829B16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0A8E9-52A3-B5E2-37FF-932412F7C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510B5B-81D0-FA7E-AE14-5366446B4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4BAB23-9C5B-8291-E310-96FA3F6FF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53B9A-5307-6E99-B317-6EFA1504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48865"/>
            <a:ext cx="11237976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Defect Category Breakdown BMW </a:t>
            </a:r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C3</a:t>
            </a:r>
            <a: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b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</a:br>
            <a:r>
              <a:rPr lang="en-IN" sz="4000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(Jan – June 2026)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5C798E-F9E8-8FFA-E8EF-AC10EA3EE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615887"/>
              </p:ext>
            </p:extLst>
          </p:nvPr>
        </p:nvGraphicFramePr>
        <p:xfrm>
          <a:off x="0" y="2170031"/>
          <a:ext cx="12180030" cy="468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622">
                  <a:extLst>
                    <a:ext uri="{9D8B030D-6E8A-4147-A177-3AD203B41FA5}">
                      <a16:colId xmlns:a16="http://schemas.microsoft.com/office/drawing/2014/main" val="3411473850"/>
                    </a:ext>
                  </a:extLst>
                </a:gridCol>
                <a:gridCol w="2911665">
                  <a:extLst>
                    <a:ext uri="{9D8B030D-6E8A-4147-A177-3AD203B41FA5}">
                      <a16:colId xmlns:a16="http://schemas.microsoft.com/office/drawing/2014/main" val="1723811314"/>
                    </a:ext>
                  </a:extLst>
                </a:gridCol>
                <a:gridCol w="2879036">
                  <a:extLst>
                    <a:ext uri="{9D8B030D-6E8A-4147-A177-3AD203B41FA5}">
                      <a16:colId xmlns:a16="http://schemas.microsoft.com/office/drawing/2014/main" val="3424965943"/>
                    </a:ext>
                  </a:extLst>
                </a:gridCol>
                <a:gridCol w="2135818">
                  <a:extLst>
                    <a:ext uri="{9D8B030D-6E8A-4147-A177-3AD203B41FA5}">
                      <a16:colId xmlns:a16="http://schemas.microsoft.com/office/drawing/2014/main" val="2380576920"/>
                    </a:ext>
                  </a:extLst>
                </a:gridCol>
                <a:gridCol w="1689889">
                  <a:extLst>
                    <a:ext uri="{9D8B030D-6E8A-4147-A177-3AD203B41FA5}">
                      <a16:colId xmlns:a16="http://schemas.microsoft.com/office/drawing/2014/main" val="272438183"/>
                    </a:ext>
                  </a:extLst>
                </a:gridCol>
              </a:tblGrid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Defect Category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Test Link (Internal)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Live Link (Internal)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Total Defects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% of Total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24330408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 dirty="0">
                          <a:effectLst/>
                        </a:rPr>
                        <a:t>Content Related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69.77%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38860520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 dirty="0">
                          <a:effectLst/>
                        </a:rPr>
                        <a:t>Design Related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16.28%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3878575187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>
                          <a:effectLst/>
                        </a:rPr>
                        <a:t>Image Related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969424637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>
                          <a:effectLst/>
                        </a:rPr>
                        <a:t>Video Related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272073084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>
                          <a:effectLst/>
                        </a:rPr>
                        <a:t>Redirect Links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13.95%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408237917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>
                          <a:effectLst/>
                        </a:rPr>
                        <a:t>Functionality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3227387461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>
                          <a:effectLst/>
                        </a:rPr>
                        <a:t>Multiple Issues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48475348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u="none" strike="noStrike">
                          <a:effectLst/>
                        </a:rPr>
                        <a:t>Grand Total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12781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399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BA22C3-A5D6-7802-3C23-932280FFE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865" y="457200"/>
            <a:ext cx="89042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12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DDDBC-C20C-70B6-B591-05FE4E2A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3" name="Graphic 22" descr="Handshake">
            <a:extLst>
              <a:ext uri="{FF2B5EF4-FFF2-40B4-BE49-F238E27FC236}">
                <a16:creationId xmlns:a16="http://schemas.microsoft.com/office/drawing/2014/main" id="{D44DBF3B-7AD0-0318-1070-B5C8C77CC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622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2508</TotalTime>
  <Words>1517</Words>
  <Application>Microsoft Office PowerPoint</Application>
  <PresentationFormat>Widescreen</PresentationFormat>
  <Paragraphs>876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Calibri</vt:lpstr>
      <vt:lpstr>Office Theme</vt:lpstr>
      <vt:lpstr>Quality Report C3 Jan - June 2026</vt:lpstr>
      <vt:lpstr>Quality Score for month of C3 Jan 2026</vt:lpstr>
      <vt:lpstr>Developer Report C3 Jan 2026</vt:lpstr>
      <vt:lpstr>Error Analysis Internal &amp; External for C3 Jan 2026</vt:lpstr>
      <vt:lpstr>Error Trend Analysis for C3 Jan 2026</vt:lpstr>
      <vt:lpstr>Quality Score for month of C3 Feb 2026</vt:lpstr>
      <vt:lpstr>Developer Report C3 Feb 2026</vt:lpstr>
      <vt:lpstr>Error Analysis Internal &amp; External for C3 Feb 2026</vt:lpstr>
      <vt:lpstr>Error Trend Analysis for C3 Feb 2026</vt:lpstr>
      <vt:lpstr>Quality Score for month of C3 Mar 2026</vt:lpstr>
      <vt:lpstr>Developer Report C3 Mar 2026</vt:lpstr>
      <vt:lpstr>Error Analysis Internal &amp; External for C3 Mar 2026</vt:lpstr>
      <vt:lpstr>Error Trend Analysis for C3 Mar 2026</vt:lpstr>
      <vt:lpstr>Quality Score for month of C3 Apr 2026</vt:lpstr>
      <vt:lpstr>Developer Report C3 Apr 2026</vt:lpstr>
      <vt:lpstr>Error Analysis Internal &amp; External for C3 Apr 2026</vt:lpstr>
      <vt:lpstr>Error Trend Analysis for C3 Apr 2026</vt:lpstr>
      <vt:lpstr>Quality Score for month of C3 May 2026</vt:lpstr>
      <vt:lpstr>Developer Report C3 May 2026</vt:lpstr>
      <vt:lpstr>Error Analysis Internal &amp; External for C3 May 2026</vt:lpstr>
      <vt:lpstr>Error Trend Analysis for C3 May 2026</vt:lpstr>
      <vt:lpstr>Quality Score for month of C3 June 2026</vt:lpstr>
      <vt:lpstr>Developer Report C3 June 2026</vt:lpstr>
      <vt:lpstr>Error Analysis Internal &amp; External for C3 June 2026</vt:lpstr>
      <vt:lpstr>Error Trend Analysis for C3 June 2026</vt:lpstr>
      <vt:lpstr>Quality Score Dashboard Jan – June BMW C3</vt:lpstr>
      <vt:lpstr>BMW C3 QA Summary Report  (Jan – June 2026)</vt:lpstr>
      <vt:lpstr>Developer Summary Report BMW C3  (Jan – Jun 2026)</vt:lpstr>
      <vt:lpstr>Defect Category Breakdown BMW C3  (Jan – June 2026)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Report 2024</dc:title>
  <dc:creator>Kuttiparambil, Rahul (BOM-IPS)</dc:creator>
  <cp:lastModifiedBy>RAHUL TUKARAM SHEDGE (Omnicom)</cp:lastModifiedBy>
  <cp:revision>69</cp:revision>
  <dcterms:created xsi:type="dcterms:W3CDTF">2024-07-05T20:51:30Z</dcterms:created>
  <dcterms:modified xsi:type="dcterms:W3CDTF">2026-07-10T12:01:34Z</dcterms:modified>
</cp:coreProperties>
</file>